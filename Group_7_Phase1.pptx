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HK Grotesk" panose="020B0604020202020204" charset="0"/>
      <p:regular r:id="rId8"/>
    </p:embeddedFont>
    <p:embeddedFont>
      <p:font typeface="HK Grotesk Bold" panose="020B0604020202020204" charset="0"/>
      <p:regular r:id="rId9"/>
    </p:embeddedFont>
    <p:embeddedFont>
      <p:font typeface="HK Grotesk Semi-Bold" panose="020B0604020202020204" charset="0"/>
      <p:regular r:id="rId10"/>
    </p:embeddedFont>
    <p:embeddedFont>
      <p:font typeface="Noto Serif Display ExtraCondensed Light" panose="020B0604020202020204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59" d="100"/>
          <a:sy n="59" d="100"/>
        </p:scale>
        <p:origin x="198" y="5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5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296400" y="0"/>
            <a:ext cx="8991600" cy="10287000"/>
            <a:chOff x="0" y="0"/>
            <a:chExt cx="1393034" cy="15937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93034" cy="1593725"/>
            </a:xfrm>
            <a:custGeom>
              <a:avLst/>
              <a:gdLst/>
              <a:ahLst/>
              <a:cxnLst/>
              <a:rect l="l" t="t" r="r" b="b"/>
              <a:pathLst>
                <a:path w="1393034" h="1593725">
                  <a:moveTo>
                    <a:pt x="0" y="0"/>
                  </a:moveTo>
                  <a:lnTo>
                    <a:pt x="1393034" y="0"/>
                  </a:lnTo>
                  <a:lnTo>
                    <a:pt x="1393034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t="-378" b="-378"/>
              </a:stretch>
            </a:blipFill>
          </p:spPr>
          <p:txBody>
            <a:bodyPr/>
            <a:lstStyle/>
            <a:p>
              <a:endParaRPr lang="en-AE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666750" y="1638300"/>
            <a:ext cx="6886575" cy="508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99"/>
              </a:lnSpc>
            </a:pPr>
            <a:r>
              <a:rPr lang="en-US" sz="3899" b="1" u="none">
                <a:solidFill>
                  <a:srgbClr val="F0F0F0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Formula 1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533400" y="2676525"/>
            <a:ext cx="8044426" cy="7069017"/>
            <a:chOff x="0" y="266700"/>
            <a:chExt cx="10725902" cy="9425356"/>
          </a:xfrm>
        </p:grpSpPr>
        <p:sp>
          <p:nvSpPr>
            <p:cNvPr id="6" name="TextBox 6"/>
            <p:cNvSpPr txBox="1"/>
            <p:nvPr/>
          </p:nvSpPr>
          <p:spPr>
            <a:xfrm>
              <a:off x="0" y="6233160"/>
              <a:ext cx="9182101" cy="34588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 u="none" dirty="0">
                  <a:solidFill>
                    <a:srgbClr val="F0F0F0"/>
                  </a:solidFill>
                  <a:latin typeface="HK Grotesk"/>
                  <a:ea typeface="HK Grotesk"/>
                  <a:cs typeface="HK Grotesk"/>
                  <a:sym typeface="HK Grotesk"/>
                </a:rPr>
                <a:t>ISTE 240 – Web and Mobile, Spring 2026,</a:t>
              </a:r>
            </a:p>
            <a:p>
              <a:pPr algn="ctr"/>
              <a:r>
                <a:rPr lang="en-AE" sz="2800" b="1" dirty="0">
                  <a:solidFill>
                    <a:schemeClr val="bg1"/>
                  </a:solidFill>
                  <a:latin typeface="HK Grotesk" panose="020B0604020202020204" charset="0"/>
                </a:rPr>
                <a:t>Team Members:</a:t>
              </a:r>
              <a:endParaRPr lang="en-AE" sz="2800" dirty="0">
                <a:solidFill>
                  <a:schemeClr val="bg1"/>
                </a:solidFill>
                <a:latin typeface="HK Grotesk" panose="020B0604020202020204" charset="0"/>
              </a:endParaRPr>
            </a:p>
            <a:p>
              <a:pPr algn="ctr"/>
              <a:r>
                <a:rPr lang="en-AE" sz="2800" dirty="0">
                  <a:solidFill>
                    <a:schemeClr val="bg1"/>
                  </a:solidFill>
                  <a:latin typeface="HK Grotesk" panose="020B0604020202020204" charset="0"/>
                </a:rPr>
                <a:t>Izhan Akhtar, 421009836</a:t>
              </a:r>
            </a:p>
            <a:p>
              <a:pPr algn="ctr"/>
              <a:r>
                <a:rPr lang="en-AE" sz="2800" dirty="0">
                  <a:solidFill>
                    <a:schemeClr val="bg1"/>
                  </a:solidFill>
                  <a:latin typeface="HK Grotesk" panose="020B0604020202020204" charset="0"/>
                </a:rPr>
                <a:t>Om Singh, 751006630</a:t>
              </a:r>
            </a:p>
            <a:p>
              <a:pPr algn="ctr"/>
              <a:r>
                <a:rPr lang="en-AE" sz="2800" dirty="0">
                  <a:solidFill>
                    <a:schemeClr val="bg1"/>
                  </a:solidFill>
                  <a:latin typeface="HK Grotesk" panose="020B0604020202020204" charset="0"/>
                </a:rPr>
                <a:t>Adil </a:t>
              </a:r>
              <a:r>
                <a:rPr lang="en-AE" sz="2800" dirty="0" err="1">
                  <a:solidFill>
                    <a:schemeClr val="bg1"/>
                  </a:solidFill>
                  <a:latin typeface="HK Grotesk" panose="020B0604020202020204" charset="0"/>
                </a:rPr>
                <a:t>Nurmagambetov</a:t>
              </a:r>
              <a:r>
                <a:rPr lang="en-AE" sz="2800" dirty="0">
                  <a:solidFill>
                    <a:schemeClr val="bg1"/>
                  </a:solidFill>
                  <a:latin typeface="HK Grotesk" panose="020B0604020202020204" charset="0"/>
                </a:rPr>
                <a:t>, 415002457</a:t>
              </a:r>
            </a:p>
            <a:p>
              <a:pPr marL="0" lvl="0" indent="0" algn="ctr">
                <a:lnSpc>
                  <a:spcPts val="3359"/>
                </a:lnSpc>
                <a:spcBef>
                  <a:spcPct val="0"/>
                </a:spcBef>
              </a:pPr>
              <a:endParaRPr lang="en-US" sz="2799" u="none" dirty="0">
                <a:solidFill>
                  <a:srgbClr val="F0F0F0"/>
                </a:solidFill>
                <a:latin typeface="HK Grotesk"/>
                <a:ea typeface="HK Grotesk"/>
                <a:cs typeface="HK Grotesk"/>
                <a:sym typeface="HK Grotesk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66700"/>
              <a:ext cx="10725902" cy="50977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14400"/>
                </a:lnSpc>
              </a:pPr>
              <a:r>
                <a:rPr lang="en-US" sz="14400" spc="-288" dirty="0">
                  <a:solidFill>
                    <a:srgbClr val="F0F0F0"/>
                  </a:solidFill>
                  <a:latin typeface="Noto Serif Display ExtraCondensed Light"/>
                  <a:ea typeface="Noto Serif Display ExtraCondensed Light"/>
                  <a:cs typeface="Noto Serif Display ExtraCondensed Light"/>
                  <a:sym typeface="Noto Serif Display ExtraCondensed Light"/>
                </a:rPr>
                <a:t>Stats Explorer</a:t>
              </a:r>
            </a:p>
          </p:txBody>
        </p:sp>
      </p:grpSp>
      <p:sp>
        <p:nvSpPr>
          <p:cNvPr id="8" name="AutoShape 8"/>
          <p:cNvSpPr/>
          <p:nvPr/>
        </p:nvSpPr>
        <p:spPr>
          <a:xfrm>
            <a:off x="0" y="676275"/>
            <a:ext cx="9296400" cy="0"/>
          </a:xfrm>
          <a:prstGeom prst="line">
            <a:avLst/>
          </a:prstGeom>
          <a:ln w="19050" cap="flat">
            <a:solidFill>
              <a:srgbClr val="F0F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AE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4219575"/>
            <a:ext cx="16954500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 b="1">
                <a:solidFill>
                  <a:srgbClr val="F0F0F0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Formula 1 statistics and race data are spread ac</a:t>
            </a:r>
            <a:r>
              <a:rPr lang="en-US" sz="2799" b="1" u="none" strike="noStrike">
                <a:solidFill>
                  <a:srgbClr val="F0F0F0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ross many different websites, making it difficult for fans to quickly find reliable and organized information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5505450"/>
            <a:ext cx="16592550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 b="1">
                <a:solidFill>
                  <a:srgbClr val="F0F0F0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Fans want a simpl</a:t>
            </a:r>
            <a:r>
              <a:rPr lang="en-US" sz="2799" b="1" u="none" strike="noStrike">
                <a:solidFill>
                  <a:srgbClr val="F0F0F0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e, centralized platform where they can view driver standings, race results, and team performance in one place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6791325"/>
            <a:ext cx="16592550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 b="1">
                <a:solidFill>
                  <a:srgbClr val="F0F0F0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Our </a:t>
            </a:r>
            <a:r>
              <a:rPr lang="en-US" sz="2799" b="1" u="none" strike="noStrike">
                <a:solidFill>
                  <a:srgbClr val="F0F0F0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application solves this by storing structured Formula 1 data in a database and presenting it through clean tables and dashboards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666750" y="1562100"/>
            <a:ext cx="16954500" cy="2209800"/>
            <a:chOff x="0" y="0"/>
            <a:chExt cx="22606000" cy="2946400"/>
          </a:xfrm>
        </p:grpSpPr>
        <p:sp>
          <p:nvSpPr>
            <p:cNvPr id="6" name="TextBox 6"/>
            <p:cNvSpPr txBox="1"/>
            <p:nvPr/>
          </p:nvSpPr>
          <p:spPr>
            <a:xfrm>
              <a:off x="0" y="180975"/>
              <a:ext cx="22606000" cy="17697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600"/>
                </a:lnSpc>
              </a:pPr>
              <a:r>
                <a:rPr lang="en-US" sz="9600" spc="-192">
                  <a:solidFill>
                    <a:srgbClr val="F0F0F0"/>
                  </a:solidFill>
                  <a:latin typeface="Noto Serif Display ExtraCondensed Light"/>
                  <a:ea typeface="Noto Serif Display ExtraCondensed Light"/>
                  <a:cs typeface="Noto Serif Display ExtraCondensed Light"/>
                  <a:sym typeface="Noto Serif Display ExtraCondensed Light"/>
                </a:rPr>
                <a:t>Project Idea &amp; Problem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387600"/>
              <a:ext cx="22606000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</a:pPr>
              <a:r>
                <a:rPr lang="en-US" sz="2799" b="1">
                  <a:solidFill>
                    <a:srgbClr val="F0F0F0"/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Intuitive Formula 1 Sta</a:t>
              </a:r>
              <a:r>
                <a:rPr lang="en-US" sz="2799" b="1" u="none" strike="noStrike">
                  <a:solidFill>
                    <a:srgbClr val="F0F0F0"/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tistics Platform</a:t>
              </a:r>
            </a:p>
          </p:txBody>
        </p:sp>
      </p:grpSp>
      <p:sp>
        <p:nvSpPr>
          <p:cNvPr id="8" name="AutoShape 8"/>
          <p:cNvSpPr/>
          <p:nvPr/>
        </p:nvSpPr>
        <p:spPr>
          <a:xfrm>
            <a:off x="0" y="676275"/>
            <a:ext cx="18288000" cy="0"/>
          </a:xfrm>
          <a:prstGeom prst="line">
            <a:avLst/>
          </a:prstGeom>
          <a:ln w="19050" cap="flat">
            <a:solidFill>
              <a:srgbClr val="F0F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AE"/>
          </a:p>
        </p:txBody>
      </p:sp>
      <p:sp>
        <p:nvSpPr>
          <p:cNvPr id="9" name="AutoShape 9"/>
          <p:cNvSpPr/>
          <p:nvPr/>
        </p:nvSpPr>
        <p:spPr>
          <a:xfrm>
            <a:off x="0" y="9629775"/>
            <a:ext cx="18288000" cy="0"/>
          </a:xfrm>
          <a:prstGeom prst="line">
            <a:avLst/>
          </a:prstGeom>
          <a:ln w="19050" cap="flat">
            <a:solidFill>
              <a:srgbClr val="F0F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AE"/>
          </a:p>
        </p:txBody>
      </p:sp>
      <p:sp>
        <p:nvSpPr>
          <p:cNvPr id="10" name="TextBox 10"/>
          <p:cNvSpPr txBox="1"/>
          <p:nvPr/>
        </p:nvSpPr>
        <p:spPr>
          <a:xfrm>
            <a:off x="1028700" y="8077200"/>
            <a:ext cx="16592550" cy="419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 b="1">
                <a:solidFill>
                  <a:srgbClr val="F0F0F0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The system fo</a:t>
            </a:r>
            <a:r>
              <a:rPr lang="en-US" sz="2799" b="1" u="none" strike="noStrike">
                <a:solidFill>
                  <a:srgbClr val="F0F0F0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cuses on clarity, ease of use, and fast navigation rather than complex analytics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5172075"/>
            <a:ext cx="4010025" cy="3048000"/>
            <a:chOff x="0" y="0"/>
            <a:chExt cx="5346700" cy="4064000"/>
          </a:xfrm>
        </p:grpSpPr>
        <p:sp>
          <p:nvSpPr>
            <p:cNvPr id="3" name="TextBox 3"/>
            <p:cNvSpPr txBox="1"/>
            <p:nvPr/>
          </p:nvSpPr>
          <p:spPr>
            <a:xfrm>
              <a:off x="0" y="0"/>
              <a:ext cx="5346700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en-US" sz="2799" b="1" u="none" strike="noStrike">
                  <a:solidFill>
                    <a:srgbClr val="F0F0F0"/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Driver Standings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1244600"/>
              <a:ext cx="5346700" cy="28194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44"/>
                </a:lnSpc>
                <a:spcBef>
                  <a:spcPct val="0"/>
                </a:spcBef>
              </a:pPr>
              <a:r>
                <a:rPr lang="en-US" sz="2370" u="none" strike="noStrike">
                  <a:solidFill>
                    <a:srgbClr val="F0F0F0"/>
                  </a:solidFill>
                  <a:latin typeface="HK Grotesk"/>
                  <a:ea typeface="HK Grotesk"/>
                  <a:cs typeface="HK Grotesk"/>
                  <a:sym typeface="HK Grotesk"/>
                </a:rPr>
                <a:t>Users can easily view current driver standings, helping them track performance and understand the competitive landscape of Formula 1 racing throughout the season.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419850" y="5172075"/>
            <a:ext cx="4010025" cy="3429000"/>
            <a:chOff x="0" y="0"/>
            <a:chExt cx="5346700" cy="4572000"/>
          </a:xfrm>
        </p:grpSpPr>
        <p:sp>
          <p:nvSpPr>
            <p:cNvPr id="6" name="TextBox 6"/>
            <p:cNvSpPr txBox="1"/>
            <p:nvPr/>
          </p:nvSpPr>
          <p:spPr>
            <a:xfrm>
              <a:off x="0" y="0"/>
              <a:ext cx="5346700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en-US" sz="2799" b="1" u="none" strike="noStrike">
                  <a:solidFill>
                    <a:srgbClr val="F0F0F0"/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Team Rankings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1282700"/>
              <a:ext cx="5346700" cy="3289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44"/>
                </a:lnSpc>
                <a:spcBef>
                  <a:spcPct val="0"/>
                </a:spcBef>
              </a:pPr>
              <a:r>
                <a:rPr lang="en-US" sz="2370" u="none" strike="noStrike">
                  <a:solidFill>
                    <a:srgbClr val="F0F0F0"/>
                  </a:solidFill>
                  <a:latin typeface="HK Grotesk"/>
                  <a:ea typeface="HK Grotesk"/>
                  <a:cs typeface="HK Grotesk"/>
                  <a:sym typeface="HK Grotesk"/>
                </a:rPr>
                <a:t>Our platform provides comprehensive team rankings, allowing users to analyze team performance and strategies as they compete for the championship title across various races.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172950" y="5143500"/>
            <a:ext cx="4010025" cy="3400425"/>
            <a:chOff x="0" y="0"/>
            <a:chExt cx="5346700" cy="4533900"/>
          </a:xfrm>
        </p:grpSpPr>
        <p:sp>
          <p:nvSpPr>
            <p:cNvPr id="9" name="TextBox 9"/>
            <p:cNvSpPr txBox="1"/>
            <p:nvPr/>
          </p:nvSpPr>
          <p:spPr>
            <a:xfrm>
              <a:off x="0" y="0"/>
              <a:ext cx="5346700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en-US" sz="2799" b="1" u="none" strike="noStrike">
                  <a:solidFill>
                    <a:srgbClr val="F0F0F0"/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Race Results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1244600"/>
              <a:ext cx="5346700" cy="3289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44"/>
                </a:lnSpc>
                <a:spcBef>
                  <a:spcPct val="0"/>
                </a:spcBef>
              </a:pPr>
              <a:r>
                <a:rPr lang="en-US" sz="2370" u="none" strike="noStrike">
                  <a:solidFill>
                    <a:srgbClr val="F0F0F0"/>
                  </a:solidFill>
                  <a:latin typeface="HK Grotesk"/>
                  <a:ea typeface="HK Grotesk"/>
                  <a:cs typeface="HK Grotesk"/>
                  <a:sym typeface="HK Grotesk"/>
                </a:rPr>
                <a:t>Users can browse through detailed race results by season, offering insights into race outcomes, driver performances, and historical data to enhance the overall viewing experience.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66750" y="1562100"/>
            <a:ext cx="16954500" cy="2209800"/>
            <a:chOff x="0" y="0"/>
            <a:chExt cx="22606000" cy="2946400"/>
          </a:xfrm>
        </p:grpSpPr>
        <p:sp>
          <p:nvSpPr>
            <p:cNvPr id="12" name="TextBox 12"/>
            <p:cNvSpPr txBox="1"/>
            <p:nvPr/>
          </p:nvSpPr>
          <p:spPr>
            <a:xfrm>
              <a:off x="0" y="180975"/>
              <a:ext cx="22606000" cy="17697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600"/>
                </a:lnSpc>
              </a:pPr>
              <a:r>
                <a:rPr lang="en-US" sz="9600" spc="-192">
                  <a:solidFill>
                    <a:srgbClr val="F0F0F0"/>
                  </a:solidFill>
                  <a:latin typeface="Noto Serif Display ExtraCondensed Light"/>
                  <a:ea typeface="Noto Serif Display ExtraCondensed Light"/>
                  <a:cs typeface="Noto Serif Display ExtraCondensed Light"/>
                  <a:sym typeface="Noto Serif Display ExtraCondensed Light"/>
                </a:rPr>
                <a:t>Core Features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2387600"/>
              <a:ext cx="22606000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</a:pPr>
              <a:r>
                <a:rPr lang="en-US" sz="2799" b="1">
                  <a:solidFill>
                    <a:srgbClr val="F0F0F0"/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Wha</a:t>
              </a:r>
              <a:r>
                <a:rPr lang="en-US" sz="2799" b="1" u="none" strike="noStrike">
                  <a:solidFill>
                    <a:srgbClr val="F0F0F0"/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t the Platform Offers</a:t>
              </a:r>
            </a:p>
          </p:txBody>
        </p:sp>
      </p:grpSp>
      <p:sp>
        <p:nvSpPr>
          <p:cNvPr id="14" name="AutoShape 14"/>
          <p:cNvSpPr/>
          <p:nvPr/>
        </p:nvSpPr>
        <p:spPr>
          <a:xfrm>
            <a:off x="0" y="676275"/>
            <a:ext cx="18288000" cy="0"/>
          </a:xfrm>
          <a:prstGeom prst="line">
            <a:avLst/>
          </a:prstGeom>
          <a:ln w="19050" cap="flat">
            <a:solidFill>
              <a:srgbClr val="F0F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AE"/>
          </a:p>
        </p:txBody>
      </p:sp>
      <p:sp>
        <p:nvSpPr>
          <p:cNvPr id="15" name="AutoShape 15"/>
          <p:cNvSpPr/>
          <p:nvPr/>
        </p:nvSpPr>
        <p:spPr>
          <a:xfrm>
            <a:off x="0" y="9629775"/>
            <a:ext cx="18288000" cy="0"/>
          </a:xfrm>
          <a:prstGeom prst="line">
            <a:avLst/>
          </a:prstGeom>
          <a:ln w="19050" cap="flat">
            <a:solidFill>
              <a:srgbClr val="F0F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AE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5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5143500"/>
            <a:ext cx="4010025" cy="3333750"/>
            <a:chOff x="0" y="0"/>
            <a:chExt cx="5346700" cy="4445000"/>
          </a:xfrm>
        </p:grpSpPr>
        <p:sp>
          <p:nvSpPr>
            <p:cNvPr id="3" name="TextBox 3"/>
            <p:cNvSpPr txBox="1"/>
            <p:nvPr/>
          </p:nvSpPr>
          <p:spPr>
            <a:xfrm>
              <a:off x="0" y="0"/>
              <a:ext cx="5346700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en-US" sz="2799" b="1" u="none" strike="noStrike">
                  <a:solidFill>
                    <a:srgbClr val="F0F0F0"/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Frontend Stack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1235075"/>
              <a:ext cx="5346700" cy="3209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700"/>
                </a:lnSpc>
                <a:spcBef>
                  <a:spcPct val="0"/>
                </a:spcBef>
              </a:pPr>
              <a:r>
                <a:rPr lang="en-US" sz="2250" u="none" strike="noStrike">
                  <a:solidFill>
                    <a:srgbClr val="F0F0F0"/>
                  </a:solidFill>
                  <a:latin typeface="HK Grotesk"/>
                  <a:ea typeface="HK Grotesk"/>
                  <a:cs typeface="HK Grotesk"/>
                  <a:sym typeface="HK Grotesk"/>
                </a:rPr>
                <a:t>The frontend utilizes </a:t>
              </a:r>
              <a:r>
                <a:rPr lang="en-US" sz="2250" b="1" u="none" strike="noStrike">
                  <a:solidFill>
                    <a:srgbClr val="F0F0F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HTML, CSS, and JavaScript</a:t>
              </a:r>
              <a:r>
                <a:rPr lang="en-US" sz="2250" u="none" strike="noStrike">
                  <a:solidFill>
                    <a:srgbClr val="F0F0F0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combined with Bootstrap to create a responsive user interface. This ensures optimal accessibility across various devices while maintaining a clean aesthetic.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419850" y="5143500"/>
            <a:ext cx="4010025" cy="3362325"/>
            <a:chOff x="0" y="0"/>
            <a:chExt cx="5346700" cy="4483100"/>
          </a:xfrm>
        </p:grpSpPr>
        <p:sp>
          <p:nvSpPr>
            <p:cNvPr id="6" name="TextBox 6"/>
            <p:cNvSpPr txBox="1"/>
            <p:nvPr/>
          </p:nvSpPr>
          <p:spPr>
            <a:xfrm>
              <a:off x="0" y="0"/>
              <a:ext cx="5346700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en-US" sz="2799" b="1" u="none" strike="noStrike">
                  <a:solidFill>
                    <a:srgbClr val="F0F0F0"/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Backend Framework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1273175"/>
              <a:ext cx="5346700" cy="3209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700"/>
                </a:lnSpc>
                <a:spcBef>
                  <a:spcPct val="0"/>
                </a:spcBef>
              </a:pPr>
              <a:r>
                <a:rPr lang="en-US" sz="2250" u="none" strike="noStrike">
                  <a:solidFill>
                    <a:srgbClr val="F0F0F0"/>
                  </a:solidFill>
                  <a:latin typeface="HK Grotesk"/>
                  <a:ea typeface="HK Grotesk"/>
                  <a:cs typeface="HK Grotesk"/>
                  <a:sym typeface="HK Grotesk"/>
                </a:rPr>
                <a:t>A robust backend is powered by </a:t>
              </a:r>
              <a:r>
                <a:rPr lang="en-US" sz="2250" b="1" u="none" strike="noStrike">
                  <a:solidFill>
                    <a:srgbClr val="F0F0F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Java Spring Boot</a:t>
              </a:r>
              <a:r>
                <a:rPr lang="en-US" sz="2250" u="none" strike="noStrike">
                  <a:solidFill>
                    <a:srgbClr val="F0F0F0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implementing REST APIs and MVC architecture, ensuring efficient data management and seamless interactions between the frontend and backend systems.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172950" y="5172075"/>
            <a:ext cx="4010025" cy="3333750"/>
            <a:chOff x="0" y="0"/>
            <a:chExt cx="5346700" cy="4445000"/>
          </a:xfrm>
        </p:grpSpPr>
        <p:sp>
          <p:nvSpPr>
            <p:cNvPr id="9" name="TextBox 9"/>
            <p:cNvSpPr txBox="1"/>
            <p:nvPr/>
          </p:nvSpPr>
          <p:spPr>
            <a:xfrm>
              <a:off x="0" y="0"/>
              <a:ext cx="5346700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en-US" sz="2799" b="1" u="none" strike="noStrike">
                  <a:solidFill>
                    <a:srgbClr val="F0F0F0"/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Database Management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1235075"/>
              <a:ext cx="5346700" cy="3209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700"/>
                </a:lnSpc>
                <a:spcBef>
                  <a:spcPct val="0"/>
                </a:spcBef>
              </a:pPr>
              <a:r>
                <a:rPr lang="en-US" sz="2250" u="none" strike="noStrike">
                  <a:solidFill>
                    <a:srgbClr val="F0F0F0"/>
                  </a:solidFill>
                  <a:latin typeface="HK Grotesk"/>
                  <a:ea typeface="HK Grotesk"/>
                  <a:cs typeface="HK Grotesk"/>
                  <a:sym typeface="HK Grotesk"/>
                </a:rPr>
                <a:t>Data is managed using </a:t>
              </a:r>
              <a:r>
                <a:rPr lang="en-US" sz="2250" b="1" u="none" strike="noStrike">
                  <a:solidFill>
                    <a:srgbClr val="F0F0F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MySQL</a:t>
              </a:r>
              <a:r>
                <a:rPr lang="en-US" sz="2250" u="none" strike="noStrike">
                  <a:solidFill>
                    <a:srgbClr val="F0F0F0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with JPA/Hibernate for efficient database operations. This setup facilitates structured data handling, enhancing the application's performance and scalability for future expansions.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66750" y="1562100"/>
            <a:ext cx="16954500" cy="2209800"/>
            <a:chOff x="0" y="0"/>
            <a:chExt cx="22606000" cy="2946400"/>
          </a:xfrm>
        </p:grpSpPr>
        <p:sp>
          <p:nvSpPr>
            <p:cNvPr id="12" name="TextBox 12"/>
            <p:cNvSpPr txBox="1"/>
            <p:nvPr/>
          </p:nvSpPr>
          <p:spPr>
            <a:xfrm>
              <a:off x="0" y="180975"/>
              <a:ext cx="22606000" cy="17697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600"/>
                </a:lnSpc>
              </a:pPr>
              <a:r>
                <a:rPr lang="en-US" sz="9600" spc="-192">
                  <a:solidFill>
                    <a:srgbClr val="F0F0F0"/>
                  </a:solidFill>
                  <a:latin typeface="Noto Serif Display ExtraCondensed Light"/>
                  <a:ea typeface="Noto Serif Display ExtraCondensed Light"/>
                  <a:cs typeface="Noto Serif Display ExtraCondensed Light"/>
                  <a:sym typeface="Noto Serif Display ExtraCondensed Light"/>
                </a:rPr>
                <a:t>Technologies &amp; Design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2387600"/>
              <a:ext cx="22606000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</a:pPr>
              <a:r>
                <a:rPr lang="en-US" sz="2799" b="1" u="none" strike="noStrike">
                  <a:solidFill>
                    <a:srgbClr val="F0F0F0"/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Key Components and Approach</a:t>
              </a:r>
            </a:p>
          </p:txBody>
        </p:sp>
      </p:grpSp>
      <p:sp>
        <p:nvSpPr>
          <p:cNvPr id="14" name="AutoShape 14"/>
          <p:cNvSpPr/>
          <p:nvPr/>
        </p:nvSpPr>
        <p:spPr>
          <a:xfrm>
            <a:off x="0" y="676275"/>
            <a:ext cx="18288000" cy="0"/>
          </a:xfrm>
          <a:prstGeom prst="line">
            <a:avLst/>
          </a:prstGeom>
          <a:ln w="19050" cap="flat">
            <a:solidFill>
              <a:srgbClr val="F0F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AE"/>
          </a:p>
        </p:txBody>
      </p:sp>
      <p:sp>
        <p:nvSpPr>
          <p:cNvPr id="15" name="AutoShape 15"/>
          <p:cNvSpPr/>
          <p:nvPr/>
        </p:nvSpPr>
        <p:spPr>
          <a:xfrm>
            <a:off x="0" y="9629775"/>
            <a:ext cx="18288000" cy="0"/>
          </a:xfrm>
          <a:prstGeom prst="line">
            <a:avLst/>
          </a:prstGeom>
          <a:ln w="19050" cap="flat">
            <a:solidFill>
              <a:srgbClr val="F0F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AE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5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4207323"/>
            <a:ext cx="16954500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 b="1">
                <a:solidFill>
                  <a:srgbClr val="F0F0F0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The inte</a:t>
            </a:r>
            <a:r>
              <a:rPr lang="en-US" sz="2799" b="1" u="none" strike="noStrike">
                <a:solidFill>
                  <a:srgbClr val="F0F0F0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rface will use a clean, motorsport-inspired color scheme and layout to match the Formula 1 theme while maintaining strong readability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5490996"/>
            <a:ext cx="16592550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 b="1">
                <a:solidFill>
                  <a:srgbClr val="F0F0F0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A dashbo</a:t>
            </a:r>
            <a:r>
              <a:rPr lang="en-US" sz="2799" b="1" u="none" strike="noStrike">
                <a:solidFill>
                  <a:srgbClr val="F0F0F0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ard-style homepage will provide users with quick access to standings, race results, and key statistics without overwhelming the screen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6776871"/>
            <a:ext cx="16592550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 b="1" u="none" strike="noStrike">
                <a:solidFill>
                  <a:srgbClr val="F0F0F0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The website will be fully responsive, ensuring smooth usability across desktop, tablet, and mobile devices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666750" y="1562100"/>
            <a:ext cx="16954500" cy="2209800"/>
            <a:chOff x="0" y="0"/>
            <a:chExt cx="22606000" cy="2946400"/>
          </a:xfrm>
        </p:grpSpPr>
        <p:sp>
          <p:nvSpPr>
            <p:cNvPr id="6" name="TextBox 6"/>
            <p:cNvSpPr txBox="1"/>
            <p:nvPr/>
          </p:nvSpPr>
          <p:spPr>
            <a:xfrm>
              <a:off x="0" y="180975"/>
              <a:ext cx="22606000" cy="17697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600"/>
                </a:lnSpc>
              </a:pPr>
              <a:r>
                <a:rPr lang="en-US" sz="9600" spc="-192">
                  <a:solidFill>
                    <a:srgbClr val="F0F0F0"/>
                  </a:solidFill>
                  <a:latin typeface="Noto Serif Display ExtraCondensed Light"/>
                  <a:ea typeface="Noto Serif Display ExtraCondensed Light"/>
                  <a:cs typeface="Noto Serif Display ExtraCondensed Light"/>
                  <a:sym typeface="Noto Serif Display ExtraCondensed Light"/>
                </a:rPr>
                <a:t>UI/UX Design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387600"/>
              <a:ext cx="22606000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</a:pPr>
              <a:r>
                <a:rPr lang="en-US" sz="2799" b="1">
                  <a:solidFill>
                    <a:srgbClr val="F0F0F0"/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Us</a:t>
              </a:r>
              <a:r>
                <a:rPr lang="en-US" sz="2799" b="1" u="none" strike="noStrike">
                  <a:solidFill>
                    <a:srgbClr val="F0F0F0"/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er Interface &amp; Experience Strategy</a:t>
              </a:r>
            </a:p>
          </p:txBody>
        </p:sp>
      </p:grpSp>
      <p:sp>
        <p:nvSpPr>
          <p:cNvPr id="8" name="AutoShape 8"/>
          <p:cNvSpPr/>
          <p:nvPr/>
        </p:nvSpPr>
        <p:spPr>
          <a:xfrm>
            <a:off x="0" y="676275"/>
            <a:ext cx="18288000" cy="0"/>
          </a:xfrm>
          <a:prstGeom prst="line">
            <a:avLst/>
          </a:prstGeom>
          <a:ln w="19050" cap="flat">
            <a:solidFill>
              <a:srgbClr val="F0F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AE"/>
          </a:p>
        </p:txBody>
      </p:sp>
      <p:sp>
        <p:nvSpPr>
          <p:cNvPr id="9" name="AutoShape 9"/>
          <p:cNvSpPr/>
          <p:nvPr/>
        </p:nvSpPr>
        <p:spPr>
          <a:xfrm>
            <a:off x="0" y="9629775"/>
            <a:ext cx="18288000" cy="0"/>
          </a:xfrm>
          <a:prstGeom prst="line">
            <a:avLst/>
          </a:prstGeom>
          <a:ln w="19050" cap="flat">
            <a:solidFill>
              <a:srgbClr val="F0F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AE"/>
          </a:p>
        </p:txBody>
      </p:sp>
      <p:sp>
        <p:nvSpPr>
          <p:cNvPr id="10" name="TextBox 10"/>
          <p:cNvSpPr txBox="1"/>
          <p:nvPr/>
        </p:nvSpPr>
        <p:spPr>
          <a:xfrm>
            <a:off x="1028700" y="8062746"/>
            <a:ext cx="16592550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 b="1">
                <a:solidFill>
                  <a:srgbClr val="F0F0F0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Nav</a:t>
            </a:r>
            <a:r>
              <a:rPr lang="en-US" sz="2799" b="1" u="none" strike="noStrike">
                <a:solidFill>
                  <a:srgbClr val="F0F0F0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igation will be simple and consistent, with clear sections for Drivers, Teams, Races, and Dashboard to minimize user confusion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829175" y="3489960"/>
            <a:ext cx="8629650" cy="3307080"/>
            <a:chOff x="0" y="0"/>
            <a:chExt cx="11506200" cy="4409440"/>
          </a:xfrm>
        </p:grpSpPr>
        <p:sp>
          <p:nvSpPr>
            <p:cNvPr id="3" name="TextBox 3"/>
            <p:cNvSpPr txBox="1"/>
            <p:nvPr/>
          </p:nvSpPr>
          <p:spPr>
            <a:xfrm>
              <a:off x="0" y="3850640"/>
              <a:ext cx="11506200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 b="1">
                  <a:solidFill>
                    <a:srgbClr val="F0F0F0"/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Any Questions?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266700"/>
              <a:ext cx="11506200" cy="26593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14400"/>
                </a:lnSpc>
                <a:spcBef>
                  <a:spcPct val="0"/>
                </a:spcBef>
              </a:pPr>
              <a:r>
                <a:rPr lang="en-US" sz="14400" spc="-288">
                  <a:solidFill>
                    <a:srgbClr val="F0F0F0"/>
                  </a:solidFill>
                  <a:latin typeface="Noto Serif Display ExtraCondensed Light"/>
                  <a:ea typeface="Noto Serif Display ExtraCondensed Light"/>
                  <a:cs typeface="Noto Serif Display ExtraCondensed Light"/>
                  <a:sym typeface="Noto Serif Display ExtraCondensed Light"/>
                </a:rPr>
                <a:t>Thank You!</a:t>
              </a:r>
            </a:p>
          </p:txBody>
        </p:sp>
      </p:grpSp>
      <p:sp>
        <p:nvSpPr>
          <p:cNvPr id="5" name="AutoShape 5"/>
          <p:cNvSpPr/>
          <p:nvPr/>
        </p:nvSpPr>
        <p:spPr>
          <a:xfrm>
            <a:off x="0" y="666750"/>
            <a:ext cx="18288000" cy="0"/>
          </a:xfrm>
          <a:prstGeom prst="line">
            <a:avLst/>
          </a:prstGeom>
          <a:ln w="19050" cap="flat">
            <a:solidFill>
              <a:srgbClr val="F0F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AE"/>
          </a:p>
        </p:txBody>
      </p:sp>
      <p:sp>
        <p:nvSpPr>
          <p:cNvPr id="6" name="AutoShape 6"/>
          <p:cNvSpPr/>
          <p:nvPr/>
        </p:nvSpPr>
        <p:spPr>
          <a:xfrm>
            <a:off x="0" y="9620250"/>
            <a:ext cx="18288000" cy="0"/>
          </a:xfrm>
          <a:prstGeom prst="line">
            <a:avLst/>
          </a:prstGeom>
          <a:ln w="19050" cap="flat">
            <a:solidFill>
              <a:srgbClr val="F0F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AE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422</Words>
  <Application>Microsoft Office PowerPoint</Application>
  <PresentationFormat>Custom</PresentationFormat>
  <Paragraphs>37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Noto Serif Display ExtraCondensed Light</vt:lpstr>
      <vt:lpstr>HK Grotesk Semi-Bold</vt:lpstr>
      <vt:lpstr>Arial</vt:lpstr>
      <vt:lpstr>Calibri</vt:lpstr>
      <vt:lpstr>HK Grotesk</vt:lpstr>
      <vt:lpstr>HK Grotesk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- Stats Explorer</dc:title>
  <dc:description>Presentation - Stats Explorer</dc:description>
  <cp:lastModifiedBy>Izhan Akhtar</cp:lastModifiedBy>
  <cp:revision>2</cp:revision>
  <dcterms:created xsi:type="dcterms:W3CDTF">2006-08-16T00:00:00Z</dcterms:created>
  <dcterms:modified xsi:type="dcterms:W3CDTF">2026-02-06T08:00:16Z</dcterms:modified>
  <dc:identifier>DAHARBrMkek</dc:identifier>
</cp:coreProperties>
</file>